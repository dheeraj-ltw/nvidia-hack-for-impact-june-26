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55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aselaw.nationalarchives.gov.uk" TargetMode="External"/><Relationship Id="rId2" Type="http://schemas.openxmlformats.org/officeDocument/2006/relationships/hyperlink" Target="https://www.legislation.gov.uk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ov.uk/guidance/police-and-criminal-evidence-act-1984-pace-codes-of-practice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4E7A00"/>
                </a:solidFill>
                <a:latin typeface="Calibri"/>
              </a:rPr>
              <a:t>NVIDIA IMPACT HACKATHON  ·  RUNS LOCALLY ON DGX 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5200" b="1" i="0">
                <a:solidFill>
                  <a:srgbClr val="1C212E"/>
                </a:solidFill>
                <a:latin typeface="Calibri"/>
              </a:rPr>
              <a:t>JARVIS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3703320"/>
            <a:ext cx="2194560" cy="508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0" i="0">
                <a:solidFill>
                  <a:srgbClr val="3B4252"/>
                </a:solidFill>
                <a:latin typeface="Calibri"/>
              </a:rPr>
              <a:t>Judicial Advisor &amp; Real-time Voice Intelligence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6692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 i="1">
                <a:solidFill>
                  <a:srgbClr val="6B7280"/>
                </a:solidFill>
                <a:latin typeface="Calibri"/>
              </a:rPr>
              <a:t>A real-time, on-device legal &amp; de-escalation copilot for frontline officers — assistive and human-in-the-loop. It cites the law; it never decides.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4E7A00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C212E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17904"/>
            <a:ext cx="146304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637215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900" b="1" i="0">
                <a:solidFill>
                  <a:srgbClr val="4E7A00"/>
                </a:solidFill>
                <a:latin typeface="Calibri"/>
              </a:rPr>
              <a:t>Officers make split-second legal decisions under stress: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Do I have grounds to search? What must I say first?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Is arrest necessary, or is there a lesser option?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Which rights are engaged right now?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900" b="1" i="0">
                <a:solidFill>
                  <a:srgbClr val="4E7A00"/>
                </a:solidFill>
                <a:latin typeface="Calibri"/>
              </a:rPr>
              <a:t>Get it wrong and the cost is real: unlawful stops, avoidable escalation, evidence thrown out, lost public trust.</a:t>
            </a:r>
          </a:p>
          <a:p>
            <a:pPr>
              <a:spcBef>
                <a:spcPts val="1000"/>
              </a:spcBef>
            </a:pPr>
            <a:r>
              <a:rPr sz="1600" b="0" i="1">
                <a:solidFill>
                  <a:srgbClr val="3B4252"/>
                </a:solidFill>
                <a:latin typeface="Calibri"/>
              </a:rPr>
              <a:t>Today, body-worn video is review-only — it tells you what went wrong after the encounter. There is no real-time copilot that reads the scene and the law in the moment.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127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JARVIS  ·  NVIDIA Impact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373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4E7A00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4E7A00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C212E"/>
                </a:solidFill>
                <a:latin typeface="Calibri"/>
              </a:rP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17904"/>
            <a:ext cx="146304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637215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900" b="1" i="0">
                <a:solidFill>
                  <a:srgbClr val="4E7A00"/>
                </a:solidFill>
                <a:latin typeface="Calibri"/>
              </a:rPr>
              <a:t>A live body-cam feed (video + audio) streams to a local pipeline that: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Sees the scene — vision model describes people, objects, actions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Hears the conversation — speech-to-text, with who-said-what (officer vs. subject)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Reasons over real England &amp; Wales law — cited, de-escalation-focused guidance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Speaks it back — hands-free audio for the officer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Records everything — tamper-evident audit log + replayable MP4 with synced transcript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900" b="1" i="0">
                <a:solidFill>
                  <a:srgbClr val="4E7A00"/>
                </a:solidFill>
                <a:latin typeface="Calibri"/>
              </a:rPr>
              <a:t>Built to run entirely on a DGX Spark — body-cam footage and PII never leave the device.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6B7280"/>
                </a:solidFill>
                <a:latin typeface="Calibri"/>
              </a:rPr>
              <a:t>JARVIS = Patrol Assist (the real-time system) + PoliceAI (the fine-tuned, law-grounded model).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127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JARVIS  ·  NVIDIA Impact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373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4E7A0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4E7A00"/>
                </a:solidFill>
                <a:latin typeface="Calibri"/>
              </a:rPr>
              <a:t>IN 5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C212E"/>
                </a:solidFill>
                <a:latin typeface="Calibri"/>
              </a:rPr>
              <a:t>Demo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17904"/>
            <a:ext cx="146304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637215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Onboard the officer — record a ~7 s voice sample (enrolls a local voice embedding)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Start patrol — camera + mic stream over a binary WebSocket at ~2 fps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Live detections + transcript appear; transcript is tagged officer / subject in real time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A cited guidance card surfaces (legal basis · action · tone · rights · next steps) and is read aloud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Stop — the session is encoded to MP4 and stored; a background pass diarizes the audio for playback</a:t>
            </a:r>
          </a:p>
          <a:p>
            <a:pPr>
              <a:spcBef>
                <a:spcPts val="1000"/>
              </a:spcBef>
            </a:pPr>
            <a:r>
              <a:rPr sz="1600" b="0" i="1">
                <a:solidFill>
                  <a:srgbClr val="3B4252"/>
                </a:solidFill>
                <a:latin typeface="Calibri"/>
              </a:rPr>
              <a:t>Every input, model output, and officer action is written to an append-only session manifest.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127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JARVIS  ·  NVIDIA Impact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373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4E7A0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4E7A00"/>
                </a:solidFill>
                <a:latin typeface="Calibri"/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C212E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17904"/>
            <a:ext cx="146304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rchitecture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189" y="1719072"/>
            <a:ext cx="6999316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715000"/>
            <a:ext cx="106372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Field device → Next.js console → FastAPI orchestrator → pluggable AIService layer → reactive UI + TTS, every session persisted to MinIO/S3.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37215" cy="127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64373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JARVIS  ·  NVIDIA Impact 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4373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4E7A0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 dirty="0">
                <a:solidFill>
                  <a:srgbClr val="4E7A00"/>
                </a:solidFill>
                <a:latin typeface="Calibri"/>
              </a:rPr>
              <a:t>EXECUTION &amp; COMPLETENESS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C212E"/>
                </a:solidFill>
                <a:latin typeface="Calibri"/>
              </a:rPr>
              <a:t>Technical depth — a system, not a wrapper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17904"/>
            <a:ext cx="146304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637215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800" b="1" i="0">
                <a:solidFill>
                  <a:srgbClr val="4E7A00"/>
                </a:solidFill>
                <a:latin typeface="Calibri"/>
              </a:rPr>
              <a:t>1 · Legal-reasoning dataset pipeline  (built)</a:t>
            </a:r>
          </a:p>
          <a:p>
            <a:pPr>
              <a:spcBef>
                <a:spcPts val="300"/>
              </a:spcBef>
            </a:pPr>
            <a:r>
              <a:rPr sz="1600" b="0" i="0">
                <a:solidFill>
                  <a:srgbClr val="1C212E"/>
                </a:solidFill>
                <a:latin typeface="Calibri"/>
              </a:rPr>
              <a:t>Built on real, openly-licensed England &amp; Wales law:  </a:t>
            </a:r>
            <a:r>
              <a:rPr sz="1500" b="1" i="0" u="sng">
                <a:solidFill>
                  <a:srgbClr val="4E7A00"/>
                </a:solidFill>
                <a:latin typeface="Calibri"/>
                <a:hlinkClick r:id="rId2"/>
              </a:rPr>
              <a:t>legislation.gov.uk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  ·  </a:t>
            </a:r>
            <a:r>
              <a:rPr sz="1500" b="1" i="0" u="sng">
                <a:solidFill>
                  <a:srgbClr val="4E7A00"/>
                </a:solidFill>
                <a:latin typeface="Calibri"/>
                <a:hlinkClick r:id="rId3"/>
              </a:rPr>
              <a:t>Find Case Law (The National Archives)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  ·  </a:t>
            </a:r>
            <a:r>
              <a:rPr sz="1500" b="1" i="0" u="sng">
                <a:solidFill>
                  <a:srgbClr val="4E7A00"/>
                </a:solidFill>
                <a:latin typeface="Calibri"/>
                <a:hlinkClick r:id="rId4"/>
              </a:rPr>
              <a:t>PACE Codes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C212E"/>
                </a:solidFill>
                <a:latin typeface="Calibri"/>
              </a:rPr>
              <a:t>citation-tagged corpus → BM25 retrieval → SCENE-CARD examples (&lt;think&gt; reasoning + structured JSON) → validate. Every citation is cross-checked back against the corpus.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4E7A00"/>
                </a:solidFill>
                <a:latin typeface="Calibri"/>
              </a:rPr>
              <a:t>2 · Fine-tuned an NVIDIA model  (trained)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C212E"/>
                </a:solidFill>
                <a:latin typeface="Calibri"/>
              </a:rPr>
              <a:t>QLoRA on Nemotron-Super-49B → merged → GGUF Q4_K_M for local serving.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4E7A00"/>
                </a:solidFill>
                <a:latin typeface="Calibri"/>
              </a:rPr>
              <a:t>3 · Real-time orchestrator  (built)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C212E"/>
                </a:solidFill>
                <a:latin typeface="Calibri"/>
              </a:rPr>
              <a:t>Throttled drop-if-busy loop (≤1 analysis / 0.7 s) keeps latency bounded under load.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4E7A00"/>
                </a:solidFill>
                <a:latin typeface="Calibri"/>
              </a:rPr>
              <a:t>4 · Local inference services  (built)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C212E"/>
                </a:solidFill>
                <a:latin typeface="Calibri"/>
              </a:rPr>
              <a:t>Self-hosted vLLM (video) + llama.cpp (the fine-tuned LLM), both OpenAI-compatible, containerized.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127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JARVIS  ·  NVIDIA Impact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373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4E7A0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 dirty="0">
                <a:solidFill>
                  <a:srgbClr val="4E7A00"/>
                </a:solidFill>
                <a:latin typeface="Calibri"/>
              </a:rPr>
              <a:t>NVIDIA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C212E"/>
                </a:solidFill>
                <a:latin typeface="Calibri"/>
              </a:rPr>
              <a:t>NVIDIA ecosystem &amp; the Spark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17904"/>
            <a:ext cx="146304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4E7A00"/>
                </a:solidFill>
                <a:latin typeface="Calibri"/>
              </a:rPr>
              <a:t>We did not just call a cloud LLM — we fine-tuned and serve an NVIDIA model locally.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221992"/>
          <a:ext cx="10634472" cy="28346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NVIDIA piece</a:t>
                      </a:r>
                    </a:p>
                  </a:txBody>
                  <a:tcPr marL="128016" marT="36576" marB="36576" anchor="ctr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How we use it</a:t>
                      </a:r>
                    </a:p>
                  </a:txBody>
                  <a:tcPr marL="128016" marT="36576" marB="36576" anchor="ctr">
                    <a:solidFill>
                      <a:srgbClr val="76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C212E"/>
                          </a:solidFill>
                          <a:latin typeface="Calibri"/>
                        </a:rPr>
                        <a:t>Nemotron-Super-49B</a:t>
                      </a:r>
                    </a:p>
                  </a:txBody>
                  <a:tcPr marL="128016" marT="36576" marB="36576" anchor="ctr">
                    <a:solidFill>
                      <a:srgbClr val="F5F7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C212E"/>
                          </a:solidFill>
                          <a:latin typeface="Calibri"/>
                        </a:rPr>
                        <a:t>Fine-tuned with QLoRA into PoliceAI — reasoning + structured output</a:t>
                      </a:r>
                    </a:p>
                  </a:txBody>
                  <a:tcPr marL="128016" marT="36576" marB="36576" anchor="ctr">
                    <a:solidFill>
                      <a:srgbClr val="F5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C212E"/>
                          </a:solidFill>
                          <a:latin typeface="Calibri"/>
                        </a:rPr>
                        <a:t>DGX Spark (GB10 Grace Blackwell)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C212E"/>
                          </a:solidFill>
                          <a:latin typeface="Calibri"/>
                        </a:rPr>
                        <a:t>Training + inference target; 128 GB unified memory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C212E"/>
                          </a:solidFill>
                          <a:latin typeface="Calibri"/>
                        </a:rPr>
                        <a:t>FP4 on 5th-gen Tensor Cores</a:t>
                      </a:r>
                    </a:p>
                  </a:txBody>
                  <a:tcPr marL="128016" marT="36576" marB="36576" anchor="ctr">
                    <a:solidFill>
                      <a:srgbClr val="F5F7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C212E"/>
                          </a:solidFill>
                          <a:latin typeface="Calibri"/>
                        </a:rPr>
                        <a:t>Native 4-bit → fine-tune a 49B model in ~38 GB</a:t>
                      </a:r>
                    </a:p>
                  </a:txBody>
                  <a:tcPr marL="128016" marT="36576" marB="36576" anchor="ctr">
                    <a:solidFill>
                      <a:srgbClr val="F5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C212E"/>
                          </a:solidFill>
                          <a:latin typeface="Calibri"/>
                        </a:rPr>
                        <a:t>NVIDIA vLLM container (nvcr.io)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C212E"/>
                          </a:solidFill>
                          <a:latin typeface="Calibri"/>
                        </a:rPr>
                        <a:t>Serves the local vision model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C212E"/>
                          </a:solidFill>
                          <a:latin typeface="Calibri"/>
                        </a:rPr>
                        <a:t>NIM / Nemotron API</a:t>
                      </a:r>
                    </a:p>
                  </a:txBody>
                  <a:tcPr marL="128016" marT="36576" marB="36576" anchor="ctr">
                    <a:solidFill>
                      <a:srgbClr val="F5F7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1C212E"/>
                          </a:solidFill>
                          <a:latin typeface="Calibri"/>
                        </a:rPr>
                        <a:t>Pluggable cloud reasoning backend</a:t>
                      </a:r>
                    </a:p>
                  </a:txBody>
                  <a:tcPr marL="128016" marT="36576" marB="36576" anchor="ctr">
                    <a:solidFill>
                      <a:srgbClr val="F5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6355080"/>
            <a:ext cx="10637215" cy="127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64373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JARVIS  ·  NVIDIA Impact 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4373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4E7A0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 dirty="0">
                <a:solidFill>
                  <a:srgbClr val="4E7A00"/>
                </a:solidFill>
                <a:latin typeface="Calibri"/>
              </a:rPr>
              <a:t>THE SPARK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C212E"/>
                </a:solidFill>
                <a:latin typeface="Calibri"/>
              </a:rPr>
              <a:t>Why Spark, specifically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17904"/>
            <a:ext cx="146304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637215" cy="4224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</a:pPr>
            <a:r>
              <a:rPr sz="2100" b="1" i="0">
                <a:solidFill>
                  <a:srgbClr val="4E7A00"/>
                </a:solidFill>
                <a:latin typeface="Calibri"/>
              </a:rPr>
              <a:t>Unified memory.  </a:t>
            </a:r>
            <a:r>
              <a:rPr sz="1900" b="0" i="0">
                <a:solidFill>
                  <a:srgbClr val="1C212E"/>
                </a:solidFill>
                <a:latin typeface="Calibri"/>
              </a:rPr>
              <a:t>128 GB holds the 49B model + KV cache + video-frame buffer + speaker embeddings simultaneously — no sharding, no juggling a 24 GB discrete GPU.</a:t>
            </a:r>
          </a:p>
          <a:p>
            <a:pPr>
              <a:spcBef>
                <a:spcPts val="1400"/>
              </a:spcBef>
            </a:pPr>
            <a:r>
              <a:rPr sz="2100" b="1" i="0">
                <a:solidFill>
                  <a:srgbClr val="4E7A00"/>
                </a:solidFill>
                <a:latin typeface="Calibri"/>
              </a:rPr>
              <a:t>Privacy.  </a:t>
            </a:r>
            <a:r>
              <a:rPr sz="1900" b="0" i="0">
                <a:solidFill>
                  <a:srgbClr val="1C212E"/>
                </a:solidFill>
                <a:latin typeface="Calibri"/>
              </a:rPr>
              <a:t>Local inference means evidence-grade body-cam data and PII stay on the device — essential for policing and the chain of custody.</a:t>
            </a:r>
          </a:p>
          <a:p>
            <a:pPr>
              <a:spcBef>
                <a:spcPts val="1400"/>
              </a:spcBef>
            </a:pPr>
            <a:r>
              <a:rPr sz="2100" b="1" i="0">
                <a:solidFill>
                  <a:srgbClr val="4E7A00"/>
                </a:solidFill>
                <a:latin typeface="Calibri"/>
              </a:rPr>
              <a:t>Latency.  </a:t>
            </a:r>
            <a:r>
              <a:rPr sz="1900" b="0" i="0">
                <a:solidFill>
                  <a:srgbClr val="1C212E"/>
                </a:solidFill>
                <a:latin typeface="Calibri"/>
              </a:rPr>
              <a:t>On-device guidance during a live encounter — no round-trip to a cloud API.</a:t>
            </a:r>
          </a:p>
          <a:p>
            <a:pPr>
              <a:spcBef>
                <a:spcPts val="1400"/>
              </a:spcBef>
            </a:pPr>
            <a:r>
              <a:rPr sz="1600" b="0" i="1">
                <a:solidFill>
                  <a:srgbClr val="6B7280"/>
                </a:solidFill>
                <a:latin typeface="Calibri"/>
              </a:rPr>
              <a:t>"Merely calling GPT-4 via API gets 0 points." We fine-tuned an NVIDIA model and run it locally.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127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JARVIS  ·  NVIDIA Impact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373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4E7A0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 dirty="0">
                <a:solidFill>
                  <a:srgbClr val="4E7A00"/>
                </a:solidFill>
                <a:latin typeface="Calibri"/>
              </a:rPr>
              <a:t>VALUE &amp; IMPACT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C212E"/>
                </a:solidFill>
                <a:latin typeface="Calibri"/>
              </a:rPr>
              <a:t>Value &amp;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17904"/>
            <a:ext cx="146304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6372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4E7A00"/>
                </a:solidFill>
                <a:latin typeface="Calibri"/>
              </a:rPr>
              <a:t>Insight quality — situation-specific, not generic.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C212E"/>
                </a:solidFill>
                <a:latin typeface="Calibri"/>
              </a:rPr>
              <a:t>A dashboard says </a:t>
            </a:r>
            <a:r>
              <a:rPr sz="1500" b="0" i="1">
                <a:solidFill>
                  <a:srgbClr val="6B7280"/>
                </a:solidFill>
                <a:latin typeface="Calibri"/>
              </a:rPr>
              <a:t>“crime rises at night.”</a:t>
            </a:r>
            <a:r>
              <a:rPr sz="1500" b="0" i="0">
                <a:solidFill>
                  <a:srgbClr val="1C212E"/>
                </a:solidFill>
                <a:latin typeface="Calibri"/>
              </a:rPr>
              <a:t>  JARVIS reasons about the actual scene and cites the law: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51760"/>
            <a:ext cx="10637215" cy="1773936"/>
          </a:xfrm>
          <a:prstGeom prst="rect">
            <a:avLst/>
          </a:prstGeom>
          <a:solidFill>
            <a:srgbClr val="F5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82296" cy="177393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761488"/>
            <a:ext cx="10180015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400" b="1" i="0">
                <a:solidFill>
                  <a:srgbClr val="4E7A00"/>
                </a:solidFill>
                <a:latin typeface="Calibri"/>
              </a:rPr>
              <a:t>Scene</a:t>
            </a:r>
            <a:r>
              <a:rPr sz="1400" b="0" i="0">
                <a:solidFill>
                  <a:srgbClr val="1C212E"/>
                </a:solidFill>
                <a:latin typeface="Calibri"/>
              </a:rPr>
              <a:t>      strong smell of cannabis · hands in pockets · 2-yr officer · night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4E7A00"/>
                </a:solidFill>
                <a:latin typeface="Calibri"/>
              </a:rPr>
              <a:t>Legal basis</a:t>
            </a:r>
            <a:r>
              <a:rPr sz="1400" b="0" i="0">
                <a:solidFill>
                  <a:srgbClr val="1C212E"/>
                </a:solidFill>
                <a:latin typeface="Calibri"/>
              </a:rPr>
              <a:t>      s.23(2) Misuse of Drugs Act 1971 — reasonable grounds to search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4E7A00"/>
                </a:solidFill>
                <a:latin typeface="Calibri"/>
              </a:rPr>
              <a:t>Say first</a:t>
            </a:r>
            <a:r>
              <a:rPr sz="1400" b="0" i="0">
                <a:solidFill>
                  <a:srgbClr val="1C212E"/>
                </a:solidFill>
                <a:latin typeface="Calibri"/>
              </a:rPr>
              <a:t>      all GOWISELY elements (PACE Code A 3.8)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4E7A00"/>
                </a:solidFill>
                <a:latin typeface="Calibri"/>
              </a:rPr>
              <a:t>Rights</a:t>
            </a:r>
            <a:r>
              <a:rPr sz="1400" b="0" i="0">
                <a:solidFill>
                  <a:srgbClr val="1C212E"/>
                </a:solidFill>
                <a:latin typeface="Calibri"/>
              </a:rPr>
              <a:t>      street search, not arrest — Code C custody rights not yet engaged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4E7A00"/>
                </a:solidFill>
                <a:latin typeface="Calibri"/>
              </a:rPr>
              <a:t>De-escalation</a:t>
            </a:r>
            <a:r>
              <a:rPr sz="1400" b="0" i="0">
                <a:solidFill>
                  <a:srgbClr val="1C212E"/>
                </a:solidFill>
                <a:latin typeface="Calibri"/>
              </a:rPr>
              <a:t>      answer “why am I stopped?” directly; speak slowly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17136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Calibri"/>
              </a:rPr>
              <a:t>Actual model output — every citation is validated back against the scraped corpus, not invented.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74336"/>
            <a:ext cx="1063721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4E7A00"/>
                </a:solidFill>
                <a:latin typeface="Calibri"/>
              </a:rPr>
              <a:t>Usability — a tool an officer could use tomorrow.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C212E"/>
                </a:solidFill>
                <a:latin typeface="Calibri"/>
              </a:rPr>
              <a:t>Officer: hands-free audio guidance, human-in-the-loop — nothing decided for them.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C212E"/>
                </a:solidFill>
                <a:latin typeface="Calibri"/>
              </a:rPr>
              <a:t>Supervisor / legal reviewer: replayable MP4 + synced transcript + guidance log per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6355080"/>
            <a:ext cx="10637215" cy="127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64373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JARVIS  ·  NVIDIA Impact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373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4E7A0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 dirty="0">
                <a:solidFill>
                  <a:srgbClr val="4E7A00"/>
                </a:solidFill>
                <a:latin typeface="Calibri"/>
              </a:rPr>
              <a:t>INNOVATION</a:t>
            </a:r>
            <a:endParaRPr lang="en-GB" sz="1200" b="1" i="0" dirty="0">
              <a:solidFill>
                <a:srgbClr val="4E7A0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C212E"/>
                </a:solidFill>
                <a:latin typeface="Calibri"/>
              </a:rPr>
              <a:t>Innovation &amp;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17904"/>
            <a:ext cx="146304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637215" cy="3082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900" b="1" i="0" dirty="0">
                <a:solidFill>
                  <a:srgbClr val="4E7A00"/>
                </a:solidFill>
                <a:latin typeface="Calibri"/>
              </a:rPr>
              <a:t>Creativity — combine modalities that aren't usually combined:</a:t>
            </a:r>
          </a:p>
          <a:p>
            <a:pPr>
              <a:spcBef>
                <a:spcPts val="700"/>
              </a:spcBef>
            </a:pPr>
            <a:r>
              <a:rPr sz="1700" b="1" i="0" dirty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Vision (scene) + speaker </a:t>
            </a:r>
            <a:r>
              <a:rPr sz="1700" b="0" i="0" dirty="0" err="1">
                <a:solidFill>
                  <a:srgbClr val="1C212E"/>
                </a:solidFill>
                <a:latin typeface="Calibri"/>
              </a:rPr>
              <a:t>diarization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 (officer vs. subject) + legal RAG reasoning + voice — reads the scene and the law together, in real time.</a:t>
            </a:r>
          </a:p>
          <a:p>
            <a:pPr>
              <a:spcBef>
                <a:spcPts val="700"/>
              </a:spcBef>
            </a:pPr>
            <a:r>
              <a:rPr sz="1700" b="1" i="0" dirty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Anti-hallucination by construction: trained to cite only retrieved law; a validator drops any record whose citations don't trace back to the corpus.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900" b="1" i="0" dirty="0">
                <a:solidFill>
                  <a:srgbClr val="4E7A00"/>
                </a:solidFill>
                <a:latin typeface="Calibri"/>
              </a:rPr>
              <a:t>Performance &amp; engineering:</a:t>
            </a:r>
          </a:p>
          <a:p>
            <a:pPr>
              <a:spcBef>
                <a:spcPts val="700"/>
              </a:spcBef>
            </a:pPr>
            <a:r>
              <a:rPr sz="1700" b="1" i="0" dirty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Drop-if-busy throttling → bounded real-time latency.</a:t>
            </a:r>
          </a:p>
          <a:p>
            <a:pPr>
              <a:spcBef>
                <a:spcPts val="700"/>
              </a:spcBef>
            </a:pPr>
            <a:r>
              <a:rPr sz="1700" b="1" i="0" dirty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FP</a:t>
            </a:r>
            <a:r>
              <a:rPr lang="en-GB" sz="1700" b="0" i="0" dirty="0">
                <a:solidFill>
                  <a:srgbClr val="1C212E"/>
                </a:solidFill>
                <a:latin typeface="Calibri"/>
              </a:rPr>
              <a:t>16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1C212E"/>
                </a:solidFill>
                <a:latin typeface="Calibri"/>
              </a:rPr>
              <a:t>QLoRA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 → 49B fine-tune fits in ~</a:t>
            </a:r>
            <a:r>
              <a:rPr lang="en-GB" sz="1700" b="0" i="0" dirty="0">
                <a:solidFill>
                  <a:srgbClr val="1C212E"/>
                </a:solidFill>
                <a:latin typeface="Calibri"/>
              </a:rPr>
              <a:t>9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8 GB; quantized GGUF  served via </a:t>
            </a:r>
            <a:r>
              <a:rPr sz="1700" b="0" i="0" dirty="0" err="1">
                <a:solidFill>
                  <a:srgbClr val="1C212E"/>
                </a:solidFill>
                <a:latin typeface="Calibri"/>
              </a:rPr>
              <a:t>llama.cpp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.</a:t>
            </a:r>
          </a:p>
          <a:p>
            <a:pPr>
              <a:spcBef>
                <a:spcPts val="700"/>
              </a:spcBef>
            </a:pPr>
            <a:r>
              <a:rPr sz="1700" b="1" i="0" dirty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Local </a:t>
            </a:r>
            <a:r>
              <a:rPr sz="1700" b="0" i="0" dirty="0" err="1">
                <a:solidFill>
                  <a:srgbClr val="1C212E"/>
                </a:solidFill>
                <a:latin typeface="Calibri"/>
              </a:rPr>
              <a:t>resemblyzer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 voice embeddings → speaker labels with no API 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127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JARVIS  ·  NVIDIA Impact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373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4E7A0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4E7A00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C212E"/>
                </a:solidFill>
                <a:latin typeface="Calibri"/>
              </a:rPr>
              <a:t>Roadmap &amp; 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17904"/>
            <a:ext cx="146304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637215" cy="2523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300"/>
              </a:spcBef>
              <a:spcAft>
                <a:spcPts val="200"/>
              </a:spcAft>
            </a:pPr>
            <a:r>
              <a:rPr lang="en-GB" sz="1900" b="1" i="0" dirty="0">
                <a:solidFill>
                  <a:srgbClr val="4E7A00"/>
                </a:solidFill>
                <a:latin typeface="Calibri"/>
              </a:rPr>
              <a:t>Beyond the hack:</a:t>
            </a:r>
          </a:p>
          <a:p>
            <a:pPr>
              <a:spcBef>
                <a:spcPts val="700"/>
              </a:spcBef>
            </a:pPr>
            <a:r>
              <a:rPr sz="1700" b="1" i="0" dirty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Expand corpus + dataset (more incident types, force-policy packs).</a:t>
            </a:r>
          </a:p>
          <a:p>
            <a:pPr>
              <a:spcBef>
                <a:spcPts val="700"/>
              </a:spcBef>
            </a:pPr>
            <a:r>
              <a:rPr sz="1700" b="1" i="0" dirty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Per-force fine-tunes; on-device continuous learning from reviewed sessions.</a:t>
            </a:r>
          </a:p>
          <a:p>
            <a:pPr>
              <a:spcBef>
                <a:spcPts val="700"/>
              </a:spcBef>
            </a:pPr>
            <a:r>
              <a:rPr sz="1700" b="1" i="0" dirty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 dirty="0">
                <a:solidFill>
                  <a:srgbClr val="1C212E"/>
                </a:solidFill>
                <a:latin typeface="Calibri"/>
              </a:rPr>
              <a:t>Field trial with a human-in-the-loop supervisor dashboard.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900" b="1" i="0" dirty="0">
                <a:solidFill>
                  <a:srgbClr val="4E7A00"/>
                </a:solidFill>
                <a:latin typeface="Calibri"/>
              </a:rPr>
              <a:t>The ask: a DGX Spark in the loop turns this from a privacy-respecting prototype into something a real patrol could use tomorrow.</a:t>
            </a:r>
          </a:p>
          <a:p>
            <a:pPr>
              <a:spcBef>
                <a:spcPts val="1000"/>
              </a:spcBef>
            </a:pPr>
            <a:r>
              <a:rPr sz="1600" b="0" i="1" dirty="0">
                <a:solidFill>
                  <a:srgbClr val="3B4252"/>
                </a:solidFill>
                <a:latin typeface="Calibri"/>
              </a:rPr>
              <a:t>JARVIS — it reads the scene, cites the law, and keeps the human in command.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127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JARVIS  ·  NVIDIA Impact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373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4E7A0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4E7A00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1C212E"/>
                </a:solidFill>
                <a:latin typeface="Calibri"/>
              </a:rPr>
              <a:t>Technical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411480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3434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 i="0">
                <a:solidFill>
                  <a:srgbClr val="6B7280"/>
                </a:solidFill>
                <a:latin typeface="Calibri"/>
              </a:rPr>
              <a:t>For Q&amp;A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4E7A00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C212E"/>
                </a:solidFill>
                <a:latin typeface="Calibri"/>
              </a:rPr>
              <a:t>Appendix · Data + fine-tuning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17904"/>
            <a:ext cx="146304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637215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Sources (openly licensed): legislation.gov.uk (CLML XML), Find Case Law / The National Archives (LegalDocML), curated PACE Codes A/C/G. Statutes incl. PACE 1984, MDA 1971, CJPOA 1994 (s.60), RTA 1988, POA 1986, HRA 1998, MHA 1983.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Generation: 16 incident types × officer queries → deterministic SCENE CARDs → BM25 retrieval (top-8, with a guidance floor that always keeps PACE-Code slots) → Claude produces &lt;think&gt; + 6-key JSON.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Validation (hard): exact system prompt · &lt;think&gt; present · JSON schema · no US law · no guilt opinion · citation grounding · dedupe → 98 records (88 train / 10 val).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Fine-tune: Nemotron-Super-49B · QLoRA (r=16, α=32, FP4 base + BF16 adapters) · 3 epochs · LR 2e-4 · seq 4096 · transformers / trl / peft / bitsandbytes · merge → GGUF Q4_K_M.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127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JARVIS  ·  NVIDIA Impact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373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4E7A0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4E7A00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C212E"/>
                </a:solidFill>
                <a:latin typeface="Calibri"/>
              </a:rPr>
              <a:t>Appendix · Real-time system internals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17904"/>
            <a:ext cx="146304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637215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Capture (browser): ~2 fps JPEG (q0.6); audio as 1 s continuous fragments + 4 s STT clips; binary WebSocket (1-byte kind + timestamp + dims + payload).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Orchestrator: analyze at most once / 0.7 s, drop-if-busy; keeps last 2,000 chars of transcript as reasoning context; emits Detection / Transcript / Guidance / Speech events.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Speaker ID: local resemblyzer d-vectors, 0.70 cosine threshold (live); post-session ElevenLabs Scribe diarization relabels officer / person1 / person2…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Recording: frames + audio + events → MinIO; ffmpeg concat → H.264/AAC MP4; manifest drives playback.</a:t>
            </a:r>
          </a:p>
          <a:p>
            <a:pPr>
              <a:spcBef>
                <a:spcPts val="700"/>
              </a:spcBef>
            </a:pPr>
            <a:r>
              <a:rPr sz="1700" b="1" i="0">
                <a:solidFill>
                  <a:srgbClr val="76B9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C212E"/>
                </a:solidFill>
                <a:latin typeface="Calibri"/>
              </a:rPr>
              <a:t>Local services: llava-video-to-text — vLLM serving LLaVA-1.6-Mistral-7B (8900); police-llm — llama.cpp serving the fine-tuned Nemotron GGUF (8000). src/video_to_text.py — remote Qwen2.5-VL (Nebius) dev/fallback 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127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JARVIS  ·  NVIDIA Impact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373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4E7A0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1566</Words>
  <Application>Microsoft Macintosh PowerPoint</Application>
  <PresentationFormat>Widescreen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Dheeraj Singh</cp:lastModifiedBy>
  <cp:revision>4</cp:revision>
  <dcterms:created xsi:type="dcterms:W3CDTF">2013-01-27T09:14:16Z</dcterms:created>
  <dcterms:modified xsi:type="dcterms:W3CDTF">2026-06-06T18:42:04Z</dcterms:modified>
  <cp:category/>
</cp:coreProperties>
</file>